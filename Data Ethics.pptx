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Wednesday, November 23,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64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Wednesday, November 23,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72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Wednesday, November 23,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25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Wednesday, November 23,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4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Wednesday, November 23, 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052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Wednesday, November 23, 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4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Wednesday, November 23, 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3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Wednesday, November 23,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0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Wednesday, November 23,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2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Wednesday, November 23,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6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Wednesday, November 23,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3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Wednesday, November 23, 2022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3102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D3F794D0-2982-490E-88DA-93D489750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8AAB659B-6D48-69B1-8C3F-C5BE2F7041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989" b="28293"/>
          <a:stretch/>
        </p:blipFill>
        <p:spPr>
          <a:xfrm>
            <a:off x="-2" y="10"/>
            <a:ext cx="12192002" cy="4461036"/>
          </a:xfrm>
          <a:prstGeom prst="rect">
            <a:avLst/>
          </a:prstGeom>
        </p:spPr>
      </p:pic>
      <p:sp>
        <p:nvSpPr>
          <p:cNvPr id="18" name="Rectangle 9">
            <a:extLst>
              <a:ext uri="{FF2B5EF4-FFF2-40B4-BE49-F238E27FC236}">
                <a16:creationId xmlns:a16="http://schemas.microsoft.com/office/drawing/2014/main" id="{AFD24A3D-F07A-44A9-BE55-5576292E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460827"/>
            <a:ext cx="12192003" cy="2397392"/>
          </a:xfrm>
          <a:prstGeom prst="rect">
            <a:avLst/>
          </a:prstGeom>
          <a:gradFill>
            <a:gsLst>
              <a:gs pos="8000">
                <a:schemeClr val="accent6"/>
              </a:gs>
              <a:gs pos="86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204441C9-FD2D-4031-B5C5-67478196C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038600" y="4463553"/>
            <a:ext cx="8153401" cy="2394447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81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F09AEC-6E6E-418F-9974-8730F1B2B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34054">
            <a:off x="2944145" y="2710934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12000"/>
                </a:schemeClr>
              </a:gs>
              <a:gs pos="100000">
                <a:schemeClr val="accent6">
                  <a:lumMod val="60000"/>
                  <a:lumOff val="40000"/>
                  <a:alpha val="2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9D3989-3E00-4727-914E-959DFE8FA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6701" y="4460827"/>
            <a:ext cx="8115300" cy="1945408"/>
          </a:xfrm>
          <a:prstGeom prst="rect">
            <a:avLst/>
          </a:prstGeom>
          <a:gradFill>
            <a:gsLst>
              <a:gs pos="0">
                <a:schemeClr val="accent6">
                  <a:alpha val="16000"/>
                </a:schemeClr>
              </a:gs>
              <a:gs pos="62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81AFC-395F-5C40-AF5C-2C64896E8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807" y="4611271"/>
            <a:ext cx="9436593" cy="1171556"/>
          </a:xfrm>
        </p:spPr>
        <p:txBody>
          <a:bodyPr>
            <a:normAutofit/>
          </a:bodyPr>
          <a:lstStyle/>
          <a:p>
            <a:pPr algn="l"/>
            <a:r>
              <a:rPr lang="en-US" sz="3600">
                <a:solidFill>
                  <a:schemeClr val="bg1"/>
                </a:solidFill>
                <a:latin typeface="Trebuchet MS" panose="020B0703020202090204" pitchFamily="34" charset="0"/>
              </a:rPr>
              <a:t>Data Breach in Facebook </a:t>
            </a:r>
          </a:p>
        </p:txBody>
      </p:sp>
      <p:pic>
        <p:nvPicPr>
          <p:cNvPr id="5" name="Picture 4" descr="A person looking at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C8388E77-59FD-15E4-4E71-28E2ACD0A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249" y="1309255"/>
            <a:ext cx="4785679" cy="308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22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8902-24D7-4EAD-9854-BD1BAEDA3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543338"/>
            <a:ext cx="10241280" cy="61550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97128-B619-8AE5-1DB7-5D728FD1E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433946"/>
            <a:ext cx="10569892" cy="4349291"/>
          </a:xfrm>
        </p:spPr>
        <p:txBody>
          <a:bodyPr>
            <a:normAutofit/>
          </a:bodyPr>
          <a:lstStyle/>
          <a:p>
            <a:pPr marL="319087" indent="0">
              <a:lnSpc>
                <a:spcPct val="100000"/>
              </a:lnSpc>
              <a:buNone/>
            </a:pPr>
            <a:endParaRPr lang="en-US" dirty="0"/>
          </a:p>
          <a:p>
            <a:pPr marL="317500" indent="1588">
              <a:lnSpc>
                <a:spcPct val="100000"/>
              </a:lnSpc>
              <a:buNone/>
            </a:pPr>
            <a:r>
              <a:rPr lang="en-US" b="1" dirty="0"/>
              <a:t>FACEBOOK</a:t>
            </a:r>
          </a:p>
          <a:p>
            <a:pPr marL="317500" indent="1588">
              <a:lnSpc>
                <a:spcPct val="100000"/>
              </a:lnSpc>
              <a:buNone/>
            </a:pPr>
            <a:endParaRPr lang="en-US" b="1" dirty="0"/>
          </a:p>
          <a:p>
            <a:pPr marL="660400" indent="-342900">
              <a:lnSpc>
                <a:spcPct val="100000"/>
              </a:lnSpc>
            </a:pPr>
            <a:r>
              <a:rPr lang="en-US" dirty="0"/>
              <a:t>Facebook is a social networking platform owned by Meta Platforms.</a:t>
            </a:r>
          </a:p>
          <a:p>
            <a:pPr marL="660400" indent="-342900">
              <a:lnSpc>
                <a:spcPct val="100000"/>
              </a:lnSpc>
            </a:pPr>
            <a:r>
              <a:rPr lang="en-US" dirty="0"/>
              <a:t>Used worldwide except in banned countries like China, Pakistan, </a:t>
            </a:r>
            <a:r>
              <a:rPr lang="en-US" dirty="0" err="1"/>
              <a:t>N.Korea</a:t>
            </a:r>
            <a:r>
              <a:rPr lang="en-US" dirty="0"/>
              <a:t> etc.</a:t>
            </a:r>
          </a:p>
          <a:p>
            <a:pPr marL="660400" indent="-342900">
              <a:lnSpc>
                <a:spcPct val="100000"/>
              </a:lnSpc>
            </a:pPr>
            <a:r>
              <a:rPr lang="en-US" dirty="0"/>
              <a:t>As of July 2022, Monthly active users of 2.9B </a:t>
            </a:r>
          </a:p>
          <a:p>
            <a:pPr marL="660400" indent="-342900">
              <a:lnSpc>
                <a:spcPct val="100000"/>
              </a:lnSpc>
            </a:pPr>
            <a:r>
              <a:rPr lang="en-US" dirty="0"/>
              <a:t>Involved in the controversy of user privacy issue with Cambridge Analytica </a:t>
            </a:r>
          </a:p>
          <a:p>
            <a:pPr marL="660400" indent="-342900">
              <a:lnSpc>
                <a:spcPct val="100000"/>
              </a:lnSpc>
            </a:pPr>
            <a:r>
              <a:rPr lang="en-US" dirty="0"/>
              <a:t>political manipulation in US elections </a:t>
            </a:r>
          </a:p>
          <a:p>
            <a:pPr marL="660400" indent="-342900">
              <a:lnSpc>
                <a:spcPct val="100000"/>
              </a:lnSpc>
            </a:pPr>
            <a:r>
              <a:rPr lang="en-US" dirty="0"/>
              <a:t>mass surveillance.</a:t>
            </a:r>
          </a:p>
          <a:p>
            <a:pPr marL="661987" indent="-342900">
              <a:lnSpc>
                <a:spcPct val="100000"/>
              </a:lnSpc>
            </a:pPr>
            <a:endParaRPr lang="en-US" dirty="0"/>
          </a:p>
          <a:p>
            <a:pPr marL="661987" indent="-342900">
              <a:lnSpc>
                <a:spcPct val="100000"/>
              </a:lnSpc>
            </a:pPr>
            <a:endParaRPr lang="en-US" dirty="0"/>
          </a:p>
          <a:p>
            <a:pPr marL="661987" indent="-342900">
              <a:lnSpc>
                <a:spcPct val="100000"/>
              </a:lnSpc>
              <a:buFont typeface="Wingdings" pitchFamily="2" charset="2"/>
              <a:buChar char="§"/>
            </a:pPr>
            <a:endParaRPr lang="en-US" dirty="0"/>
          </a:p>
          <a:p>
            <a:pPr marL="661987" indent="-342900">
              <a:lnSpc>
                <a:spcPct val="100000"/>
              </a:lnSpc>
              <a:buFont typeface="Wingdings" pitchFamily="2" charset="2"/>
              <a:buChar char="§"/>
            </a:pPr>
            <a:endParaRPr lang="en-US" dirty="0"/>
          </a:p>
          <a:p>
            <a:pPr marL="938213" lvl="1" indent="-163513">
              <a:lnSpc>
                <a:spcPct val="100000"/>
              </a:lnSpc>
              <a:buNone/>
            </a:pPr>
            <a:endParaRPr lang="en-US" dirty="0"/>
          </a:p>
          <a:p>
            <a:pPr marL="661987" indent="-342900">
              <a:lnSpc>
                <a:spcPct val="100000"/>
              </a:lnSpc>
            </a:pPr>
            <a:endParaRPr lang="en-US" dirty="0"/>
          </a:p>
          <a:p>
            <a:pPr marL="584200" indent="-266700">
              <a:buNone/>
            </a:pPr>
            <a:endParaRPr lang="en-US" dirty="0"/>
          </a:p>
          <a:p>
            <a:pPr marL="584200" indent="-265113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1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8902-24D7-4EAD-9854-BD1BAEDA3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294" y="507238"/>
            <a:ext cx="10241280" cy="615505"/>
          </a:xfrm>
        </p:spPr>
        <p:txBody>
          <a:bodyPr/>
          <a:lstStyle/>
          <a:p>
            <a:r>
              <a:rPr lang="en-US" dirty="0"/>
              <a:t>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97128-B619-8AE5-1DB7-5D728FD1E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252" y="1664847"/>
            <a:ext cx="10569892" cy="3977417"/>
          </a:xfrm>
        </p:spPr>
        <p:txBody>
          <a:bodyPr>
            <a:normAutofit/>
          </a:bodyPr>
          <a:lstStyle/>
          <a:p>
            <a:pPr marL="319087" indent="0">
              <a:lnSpc>
                <a:spcPct val="100000"/>
              </a:lnSpc>
              <a:buNone/>
            </a:pPr>
            <a:endParaRPr lang="en-US" dirty="0"/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In April 2019 personal data of over 500 million Facebook users were published in a low-level hacking forum.</a:t>
            </a:r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The data was hacked due to the vulnerability in security during 2019.</a:t>
            </a:r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The data published on the hacking site included phone numbers, name, locations, emails and biographical information.</a:t>
            </a:r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Even though the data is old it can still be used for cyber crimes. </a:t>
            </a:r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Since the data was already published in the open , there was not much </a:t>
            </a:r>
            <a:r>
              <a:rPr lang="en-US" dirty="0" err="1"/>
              <a:t>facebook</a:t>
            </a:r>
            <a:r>
              <a:rPr lang="en-US" dirty="0"/>
              <a:t> could do to prevent it.</a:t>
            </a:r>
          </a:p>
          <a:p>
            <a:pPr marL="661987" indent="-342900">
              <a:lnSpc>
                <a:spcPct val="100000"/>
              </a:lnSpc>
            </a:pPr>
            <a:endParaRPr lang="en-US" dirty="0"/>
          </a:p>
          <a:p>
            <a:pPr marL="661987" indent="-342900">
              <a:lnSpc>
                <a:spcPct val="100000"/>
              </a:lnSpc>
            </a:pPr>
            <a:endParaRPr lang="en-US" dirty="0"/>
          </a:p>
          <a:p>
            <a:pPr marL="661987" indent="-342900">
              <a:lnSpc>
                <a:spcPct val="100000"/>
              </a:lnSpc>
              <a:buFont typeface="Wingdings" pitchFamily="2" charset="2"/>
              <a:buChar char="§"/>
            </a:pPr>
            <a:endParaRPr lang="en-US" dirty="0"/>
          </a:p>
          <a:p>
            <a:pPr marL="661987" indent="-342900">
              <a:lnSpc>
                <a:spcPct val="100000"/>
              </a:lnSpc>
              <a:buFont typeface="Wingdings" pitchFamily="2" charset="2"/>
              <a:buChar char="§"/>
            </a:pPr>
            <a:endParaRPr lang="en-US" dirty="0"/>
          </a:p>
          <a:p>
            <a:pPr marL="938213" lvl="1" indent="-163513">
              <a:lnSpc>
                <a:spcPct val="100000"/>
              </a:lnSpc>
              <a:buNone/>
            </a:pPr>
            <a:endParaRPr lang="en-US" dirty="0"/>
          </a:p>
          <a:p>
            <a:pPr marL="661987" indent="-342900">
              <a:lnSpc>
                <a:spcPct val="100000"/>
              </a:lnSpc>
            </a:pPr>
            <a:endParaRPr lang="en-US" dirty="0"/>
          </a:p>
          <a:p>
            <a:pPr marL="584200" indent="-266700">
              <a:buNone/>
            </a:pPr>
            <a:endParaRPr lang="en-US" dirty="0"/>
          </a:p>
          <a:p>
            <a:pPr marL="584200" indent="-265113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888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8902-24D7-4EAD-9854-BD1BAEDA3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574511"/>
            <a:ext cx="10241280" cy="615505"/>
          </a:xfrm>
        </p:spPr>
        <p:txBody>
          <a:bodyPr/>
          <a:lstStyle/>
          <a:p>
            <a:r>
              <a:rPr lang="en-US" dirty="0"/>
              <a:t>CONSEQUENCES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97128-B619-8AE5-1DB7-5D728FD1E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602502"/>
            <a:ext cx="10569892" cy="3894289"/>
          </a:xfrm>
        </p:spPr>
        <p:txBody>
          <a:bodyPr>
            <a:normAutofit/>
          </a:bodyPr>
          <a:lstStyle/>
          <a:p>
            <a:pPr marL="319087" indent="0">
              <a:lnSpc>
                <a:spcPct val="100000"/>
              </a:lnSpc>
              <a:buNone/>
            </a:pPr>
            <a:endParaRPr lang="en-US" dirty="0"/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Privacy violation</a:t>
            </a:r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Security issues</a:t>
            </a:r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The stolen information can be used to send spam emails, make calls, mount phishing campaigns and target advertising.</a:t>
            </a:r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the combination of date of birth, name, phone number and email which provides a useful starting point for identity theft and exploitation.</a:t>
            </a:r>
          </a:p>
          <a:p>
            <a:pPr marL="661987" indent="-342900">
              <a:lnSpc>
                <a:spcPct val="100000"/>
              </a:lnSpc>
            </a:pPr>
            <a:endParaRPr lang="en-US" dirty="0"/>
          </a:p>
          <a:p>
            <a:pPr marL="938213" lvl="1" indent="-163513">
              <a:lnSpc>
                <a:spcPct val="100000"/>
              </a:lnSpc>
              <a:buNone/>
            </a:pPr>
            <a:endParaRPr lang="en-US" dirty="0"/>
          </a:p>
          <a:p>
            <a:pPr marL="661987" indent="-342900">
              <a:lnSpc>
                <a:spcPct val="100000"/>
              </a:lnSpc>
            </a:pPr>
            <a:endParaRPr lang="en-US" dirty="0"/>
          </a:p>
          <a:p>
            <a:pPr marL="584200" indent="-266700">
              <a:buNone/>
            </a:pPr>
            <a:endParaRPr lang="en-US" dirty="0"/>
          </a:p>
          <a:p>
            <a:pPr marL="584200" indent="-265113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245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8902-24D7-4EAD-9854-BD1BAEDA3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352" y="647247"/>
            <a:ext cx="10241280" cy="615505"/>
          </a:xfrm>
        </p:spPr>
        <p:txBody>
          <a:bodyPr/>
          <a:lstStyle/>
          <a:p>
            <a:r>
              <a:rPr lang="en-US" dirty="0"/>
              <a:t>ETHICAL ASPECT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97128-B619-8AE5-1DB7-5D728FD1E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352" y="1850733"/>
            <a:ext cx="10569892" cy="3156534"/>
          </a:xfrm>
        </p:spPr>
        <p:txBody>
          <a:bodyPr>
            <a:normAutofit/>
          </a:bodyPr>
          <a:lstStyle/>
          <a:p>
            <a:pPr marL="319087" indent="0">
              <a:lnSpc>
                <a:spcPct val="100000"/>
              </a:lnSpc>
              <a:buNone/>
            </a:pPr>
            <a:endParaRPr lang="en-US" dirty="0"/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Inadequate regulation of private user data.</a:t>
            </a:r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Spread of misinformation and disinformation.</a:t>
            </a:r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Hate speech, calls to violence, and bullying.</a:t>
            </a:r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Failing to protect children on a global scale. </a:t>
            </a:r>
          </a:p>
          <a:p>
            <a:pPr marL="661987" indent="-342900">
              <a:lnSpc>
                <a:spcPct val="100000"/>
              </a:lnSpc>
            </a:pPr>
            <a:r>
              <a:rPr lang="en-US" dirty="0"/>
              <a:t>Undermine user’s privacy, dignity and self-identity.</a:t>
            </a:r>
          </a:p>
          <a:p>
            <a:pPr marL="661987" indent="-342900">
              <a:lnSpc>
                <a:spcPct val="100000"/>
              </a:lnSpc>
              <a:buFont typeface="Wingdings" pitchFamily="2" charset="2"/>
              <a:buChar char="§"/>
            </a:pPr>
            <a:endParaRPr lang="en-US" dirty="0"/>
          </a:p>
          <a:p>
            <a:pPr marL="938213" lvl="1" indent="-163513">
              <a:lnSpc>
                <a:spcPct val="100000"/>
              </a:lnSpc>
              <a:buNone/>
            </a:pPr>
            <a:endParaRPr lang="en-US" dirty="0"/>
          </a:p>
          <a:p>
            <a:pPr marL="661987" indent="-342900">
              <a:lnSpc>
                <a:spcPct val="100000"/>
              </a:lnSpc>
            </a:pPr>
            <a:endParaRPr lang="en-US" dirty="0"/>
          </a:p>
          <a:p>
            <a:pPr marL="584200" indent="-266700">
              <a:buNone/>
            </a:pPr>
            <a:endParaRPr lang="en-US" dirty="0"/>
          </a:p>
          <a:p>
            <a:pPr marL="584200" indent="-265113"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455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8902-24D7-4EAD-9854-BD1BAEDA3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595293"/>
            <a:ext cx="10241280" cy="615505"/>
          </a:xfrm>
        </p:spPr>
        <p:txBody>
          <a:bodyPr/>
          <a:lstStyle/>
          <a:p>
            <a:r>
              <a:rPr lang="en-US" dirty="0"/>
              <a:t>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97128-B619-8AE5-1DB7-5D728FD1E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353120"/>
            <a:ext cx="5268602" cy="4731453"/>
          </a:xfrm>
        </p:spPr>
        <p:txBody>
          <a:bodyPr>
            <a:normAutofit/>
          </a:bodyPr>
          <a:lstStyle/>
          <a:p>
            <a:pPr marL="319087" indent="0">
              <a:lnSpc>
                <a:spcPct val="100000"/>
              </a:lnSpc>
              <a:buNone/>
            </a:pPr>
            <a:endParaRPr lang="en-US" dirty="0"/>
          </a:p>
          <a:p>
            <a:pPr marL="485775" indent="-342900">
              <a:spcBef>
                <a:spcPts val="500"/>
              </a:spcBef>
              <a:spcAft>
                <a:spcPts val="500"/>
              </a:spcAft>
            </a:pPr>
            <a:r>
              <a:rPr lang="en-IN" dirty="0">
                <a:effectLst/>
                <a:ea typeface="Times New Roman" panose="02020603050405020304" pitchFamily="18" charset="0"/>
                <a:cs typeface="Microsoft YaHei" panose="020B0503020204020204" pitchFamily="34" charset="-122"/>
              </a:rPr>
              <a:t>Individual</a:t>
            </a:r>
            <a:endParaRPr lang="en-IN" dirty="0">
              <a:effectLst/>
              <a:ea typeface="Times New Roman" panose="02020603050405020304" pitchFamily="18" charset="0"/>
            </a:endParaRPr>
          </a:p>
          <a:p>
            <a:pPr marL="142875" lvl="1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en-IN" dirty="0">
                <a:effectLst/>
                <a:ea typeface="Times New Roman" panose="02020603050405020304" pitchFamily="18" charset="0"/>
                <a:cs typeface="Microsoft YaHei" panose="020B0503020204020204" pitchFamily="34" charset="-122"/>
              </a:rPr>
              <a:t>	a) Use unique passwords</a:t>
            </a:r>
            <a:endParaRPr lang="en-IN" dirty="0">
              <a:effectLst/>
              <a:ea typeface="Times New Roman" panose="02020603050405020304" pitchFamily="18" charset="0"/>
            </a:endParaRPr>
          </a:p>
          <a:p>
            <a:pPr marL="485775" indent="-342900">
              <a:spcBef>
                <a:spcPts val="500"/>
              </a:spcBef>
              <a:spcAft>
                <a:spcPts val="500"/>
              </a:spcAft>
            </a:pPr>
            <a:r>
              <a:rPr lang="en-IN" dirty="0">
                <a:effectLst/>
                <a:ea typeface="Times New Roman" panose="02020603050405020304" pitchFamily="18" charset="0"/>
                <a:cs typeface="Microsoft YaHei" panose="020B0503020204020204" pitchFamily="34" charset="-122"/>
              </a:rPr>
              <a:t>Company</a:t>
            </a:r>
            <a:endParaRPr lang="en-IN" dirty="0">
              <a:effectLst/>
              <a:ea typeface="Times New Roman" panose="02020603050405020304" pitchFamily="18" charset="0"/>
            </a:endParaRPr>
          </a:p>
          <a:p>
            <a:pPr marL="142875" lvl="1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en-IN" dirty="0">
                <a:effectLst/>
                <a:ea typeface="Times New Roman" panose="02020603050405020304" pitchFamily="18" charset="0"/>
                <a:cs typeface="Microsoft YaHei" panose="020B0503020204020204" pitchFamily="34" charset="-122"/>
              </a:rPr>
              <a:t>	Governance(Beaulieu and </a:t>
            </a:r>
            <a:r>
              <a:rPr lang="en-IN" dirty="0" err="1">
                <a:effectLst/>
                <a:ea typeface="Times New Roman" panose="02020603050405020304" pitchFamily="18" charset="0"/>
                <a:cs typeface="Microsoft YaHei" panose="020B0503020204020204" pitchFamily="34" charset="-122"/>
              </a:rPr>
              <a:t>Leonelli</a:t>
            </a:r>
            <a:r>
              <a:rPr lang="en-IN" dirty="0">
                <a:effectLst/>
                <a:ea typeface="Times New Roman" panose="02020603050405020304" pitchFamily="18" charset="0"/>
                <a:cs typeface="Microsoft YaHei" panose="020B0503020204020204" pitchFamily="34" charset="-122"/>
              </a:rPr>
              <a:t>, 2022)</a:t>
            </a:r>
            <a:endParaRPr lang="en-IN" dirty="0">
              <a:effectLst/>
              <a:ea typeface="Times New Roman" panose="02020603050405020304" pitchFamily="18" charset="0"/>
            </a:endParaRPr>
          </a:p>
          <a:p>
            <a:pPr marL="628650" lvl="2" indent="-309563">
              <a:spcBef>
                <a:spcPts val="500"/>
              </a:spcBef>
              <a:spcAft>
                <a:spcPts val="500"/>
              </a:spcAft>
              <a:buFont typeface="+mj-lt"/>
              <a:buAutoNum type="alphaLcParenR"/>
            </a:pPr>
            <a:r>
              <a:rPr lang="en-IN" sz="2000" dirty="0">
                <a:effectLst/>
                <a:ea typeface="Times New Roman" panose="02020603050405020304" pitchFamily="18" charset="0"/>
                <a:cs typeface="Microsoft YaHei" panose="020B0503020204020204" pitchFamily="34" charset="-122"/>
              </a:rPr>
              <a:t> strict data monitoring and control</a:t>
            </a:r>
            <a:endParaRPr lang="en-IN" sz="2000" dirty="0">
              <a:ea typeface="Times New Roman" panose="02020603050405020304" pitchFamily="18" charset="0"/>
            </a:endParaRPr>
          </a:p>
          <a:p>
            <a:pPr marL="628650" lvl="2" indent="-309563">
              <a:spcBef>
                <a:spcPts val="500"/>
              </a:spcBef>
              <a:spcAft>
                <a:spcPts val="500"/>
              </a:spcAft>
              <a:buFont typeface="+mj-lt"/>
              <a:buAutoNum type="alphaLcParenR"/>
            </a:pPr>
            <a:r>
              <a:rPr lang="en-IN" sz="2000" dirty="0">
                <a:effectLst/>
                <a:ea typeface="Times New Roman" panose="02020603050405020304" pitchFamily="18" charset="0"/>
                <a:cs typeface="Microsoft YaHei" panose="020B0503020204020204" pitchFamily="34" charset="-122"/>
              </a:rPr>
              <a:t> data access management</a:t>
            </a:r>
            <a:endParaRPr lang="en-IN" sz="2000" dirty="0">
              <a:ea typeface="Times New Roman" panose="02020603050405020304" pitchFamily="18" charset="0"/>
            </a:endParaRPr>
          </a:p>
          <a:p>
            <a:pPr marL="628650" lvl="2" indent="-309563">
              <a:spcBef>
                <a:spcPts val="500"/>
              </a:spcBef>
              <a:spcAft>
                <a:spcPts val="500"/>
              </a:spcAft>
              <a:buFont typeface="+mj-lt"/>
              <a:buAutoNum type="alphaLcParenR"/>
            </a:pPr>
            <a:r>
              <a:rPr lang="en-IN" sz="2000" dirty="0">
                <a:effectLst/>
                <a:ea typeface="Times New Roman" panose="02020603050405020304" pitchFamily="18" charset="0"/>
                <a:cs typeface="Microsoft YaHei" panose="020B0503020204020204" pitchFamily="34" charset="-122"/>
              </a:rPr>
              <a:t> manage roles and responsibilities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661987" indent="-342900">
              <a:lnSpc>
                <a:spcPct val="100000"/>
              </a:lnSpc>
            </a:pPr>
            <a:endParaRPr lang="en-US" dirty="0"/>
          </a:p>
          <a:p>
            <a:pPr marL="661987" indent="-342900">
              <a:lnSpc>
                <a:spcPct val="100000"/>
              </a:lnSpc>
              <a:buFont typeface="Wingdings" pitchFamily="2" charset="2"/>
              <a:buChar char="§"/>
            </a:pPr>
            <a:endParaRPr lang="en-US" dirty="0"/>
          </a:p>
          <a:p>
            <a:pPr marL="661987" indent="-342900">
              <a:lnSpc>
                <a:spcPct val="100000"/>
              </a:lnSpc>
              <a:buFont typeface="Wingdings" pitchFamily="2" charset="2"/>
              <a:buChar char="§"/>
            </a:pPr>
            <a:endParaRPr lang="en-US" dirty="0"/>
          </a:p>
          <a:p>
            <a:pPr marL="938213" lvl="1" indent="-163513">
              <a:lnSpc>
                <a:spcPct val="100000"/>
              </a:lnSpc>
              <a:buNone/>
            </a:pPr>
            <a:endParaRPr lang="en-US" dirty="0"/>
          </a:p>
          <a:p>
            <a:pPr marL="661987" indent="-342900">
              <a:lnSpc>
                <a:spcPct val="100000"/>
              </a:lnSpc>
            </a:pPr>
            <a:endParaRPr lang="en-US" dirty="0"/>
          </a:p>
          <a:p>
            <a:pPr marL="584200" indent="-266700">
              <a:buNone/>
            </a:pPr>
            <a:endParaRPr lang="en-US" dirty="0"/>
          </a:p>
          <a:p>
            <a:pPr marL="584200" indent="-265113">
              <a:buFont typeface="Wingdings" pitchFamily="2" charset="2"/>
              <a:buChar char="§"/>
            </a:pPr>
            <a:endParaRPr lang="en-US" dirty="0"/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7CB2503F-E73F-AFA6-933F-B840C631D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914" y="1667778"/>
            <a:ext cx="4592505" cy="284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59545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LightSeed_2SEEDS">
      <a:dk1>
        <a:srgbClr val="000000"/>
      </a:dk1>
      <a:lt1>
        <a:srgbClr val="FFFFFF"/>
      </a:lt1>
      <a:dk2>
        <a:srgbClr val="1F3836"/>
      </a:dk2>
      <a:lt2>
        <a:srgbClr val="E8E2E2"/>
      </a:lt2>
      <a:accent1>
        <a:srgbClr val="48AFA8"/>
      </a:accent1>
      <a:accent2>
        <a:srgbClr val="4DB181"/>
      </a:accent2>
      <a:accent3>
        <a:srgbClr val="51AADB"/>
      </a:accent3>
      <a:accent4>
        <a:srgbClr val="DD5BD2"/>
      </a:accent4>
      <a:accent5>
        <a:srgbClr val="E379AE"/>
      </a:accent5>
      <a:accent6>
        <a:srgbClr val="DD5B66"/>
      </a:accent6>
      <a:hlink>
        <a:srgbClr val="AE696E"/>
      </a:hlink>
      <a:folHlink>
        <a:srgbClr val="7F7F7F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{CBFE0486-BA9F-CE49-A6A1-FB4A269766F3}tf10001073_mac</Template>
  <TotalTime>1038</TotalTime>
  <Words>277</Words>
  <Application>Microsoft Macintosh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Gill Sans Nova</vt:lpstr>
      <vt:lpstr>Trebuchet MS</vt:lpstr>
      <vt:lpstr>Wingdings</vt:lpstr>
      <vt:lpstr>GradientRiseVTI</vt:lpstr>
      <vt:lpstr>Data Breach in Facebook </vt:lpstr>
      <vt:lpstr>Introduction</vt:lpstr>
      <vt:lpstr>STORY</vt:lpstr>
      <vt:lpstr>CONSEQUENCES</vt:lpstr>
      <vt:lpstr>ETHICAL ASPECT</vt:lpstr>
      <vt:lpstr>PREVENTION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dashboard for Human Resource </dc:title>
  <dc:creator>Microsoft Office User</dc:creator>
  <cp:lastModifiedBy>Thahir Shaila, Shabeer</cp:lastModifiedBy>
  <cp:revision>10</cp:revision>
  <dcterms:created xsi:type="dcterms:W3CDTF">2021-09-26T14:56:02Z</dcterms:created>
  <dcterms:modified xsi:type="dcterms:W3CDTF">2022-11-23T12:46:02Z</dcterms:modified>
</cp:coreProperties>
</file>